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sldIdLst>
    <p:sldId id="256" r:id="rId5"/>
    <p:sldId id="257" r:id="rId6"/>
    <p:sldId id="258" r:id="rId7"/>
    <p:sldId id="263" r:id="rId8"/>
    <p:sldId id="259" r:id="rId9"/>
    <p:sldId id="260" r:id="rId10"/>
    <p:sldId id="261" r:id="rId11"/>
    <p:sldId id="262" r:id="rId12"/>
    <p:sldId id="264" r:id="rId13"/>
    <p:sldId id="265" r:id="rId14"/>
    <p:sldId id="266" r:id="rId15"/>
    <p:sldId id="26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6572E"/>
    <a:srgbClr val="363E42"/>
    <a:srgbClr val="455054"/>
    <a:srgbClr val="E680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F90BAF-8C83-9095-4FF9-48606AE66FB6}" v="201" dt="2026-01-28T11:24:06.674"/>
    <p1510:client id="{9FBE07EE-02D1-B34C-B80E-283D72EE61F2}" v="1321" dt="2026-01-29T07:43:50.934"/>
    <p1510:client id="{C1227C96-0A0E-4881-86DB-D6AD8249A068}" v="10" dt="2026-01-29T08:43:55.2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BDE019-1CF4-4145-A1D8-0AB095712E40}" type="datetimeFigureOut">
              <a:rPr lang="de-DE" smtClean="0"/>
              <a:t>05.02.2026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97EE48-78BA-A941-BA31-CB27F8AB3AD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40600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97EE48-78BA-A941-BA31-CB27F8AB3ADE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956022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2EA171-751D-766C-5609-E72AD6F208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E0FCE7E-33A2-6382-9B9D-7A143D381D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418B4D9-5664-CE54-05CA-70A3AAA2C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6B052-9E16-4974-A68D-10AB613DB7B5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A8BD0EF-227E-D919-25EB-152720EB4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85C05B-F220-9C25-C7E1-92132F589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40CE6-9A46-4BD3-8089-3DF31A907F8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6915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8097B1-9264-629A-26D2-D1B87B48A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6AB87B9-80B1-B58A-29A1-E19892DBD6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8FE97DF-5CFE-8045-656E-EC0E8CA0F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6B052-9E16-4974-A68D-10AB613DB7B5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5E2A187-53E9-D475-8891-CD9D12DD4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CE54CC7-8B00-3225-CDD1-6DAD46D07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40CE6-9A46-4BD3-8089-3DF31A907F8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4248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F42035-5E12-E126-4AFF-E14B5BF3D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798B2D8-12C6-7F79-CB4E-9BBBABE5A6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223766B-D420-A7E6-BBF2-821A586C9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6B052-9E16-4974-A68D-10AB613DB7B5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CB443BF-AB77-6F31-F3D5-61E7DE427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1786664-7F48-2D4F-4FFB-CFEB34AC4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40CE6-9A46-4BD3-8089-3DF31A907F8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0451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865A1F-9894-A55A-38BF-821C4B0ED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B97CC0-B0E5-AFED-978D-C77B95B16F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A2CF6F2-29D0-610C-1C07-8FA7D664F7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A462DA9-479C-16E7-1059-D84DF9996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6B052-9E16-4974-A68D-10AB613DB7B5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6BE752D-DE49-A90C-D477-A9CE9FD0B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DDB005D-FCA8-DABB-F742-94C6F09BF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40CE6-9A46-4BD3-8089-3DF31A907F8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547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219F71-C93F-FBEF-5C49-B1E6D4EA4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8313D1D-5B8A-53FF-3AE9-5FE35105E4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34D03E5-53A2-2C7E-A95F-2EFEC7EF6B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5D7C921-53AF-B362-0D59-96A9997D70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8511C64-4323-18D5-0216-A4A5AD04DC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C39E79C-4278-38B6-5DF4-FA6F7B67E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6B052-9E16-4974-A68D-10AB613DB7B5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83D3F5E3-3D23-636D-B77D-55755CE2A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840D555-B237-D073-9E92-83135E572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40CE6-9A46-4BD3-8089-3DF31A907F8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8966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B0C6F3-66AC-7A0F-3A27-EB009CBC4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42C8FF2-F68C-66DE-5475-D0A06B320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6B052-9E16-4974-A68D-10AB613DB7B5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EDFBD85-3DF7-D250-7FA5-A97172748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29FEDB2-5D15-67CC-01CC-463366DC3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40CE6-9A46-4BD3-8089-3DF31A907F8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7090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8DA812D-8EF8-BAAB-18EF-147323984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6B052-9E16-4974-A68D-10AB613DB7B5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C502747-AD89-F4F6-29E8-C9DA9D680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6C6289D-5360-6A23-D0F8-A54BA5DB6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40CE6-9A46-4BD3-8089-3DF31A907F8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0515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21D2A7-C0C5-2243-4E37-D7D8C0508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AFEB4B3-C6A1-E519-17E0-0C2C518A45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59E214A-AF5D-BBD2-A053-07B95A034F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EA189D8-1BDB-22CD-EB49-A2F8B122A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6B052-9E16-4974-A68D-10AB613DB7B5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88E7F13-F7EC-7789-5EFB-FAAB1A487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8DE54B2-4C2C-1C4B-ECF0-D667D1193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40CE6-9A46-4BD3-8089-3DF31A907F8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2423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942091-AC21-ACB9-567D-97336CD35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61E90A3-D7C0-B2C0-BD46-39E1BE5732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9E83BC7-4F14-D0A6-CDF9-9AAD4D6832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ECFF65B-BBA4-B96C-8B46-0FBF7EFE9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6B052-9E16-4974-A68D-10AB613DB7B5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DC92778-ACDE-ADCE-67FB-57B440A07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EF6A2EB-369A-6CB6-51BF-5218D116D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40CE6-9A46-4BD3-8089-3DF31A907F8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0157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921439-F270-305C-F949-A995C49E5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9E595FB-E36D-A4F5-B78D-F637D67B30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EF0E0D8-8386-BB78-B254-77D92CDC3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6B052-9E16-4974-A68D-10AB613DB7B5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C3EA055-52F5-B206-A32A-2ABD588F1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433AF97-E1B6-594F-3CC2-43C6DB80D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40CE6-9A46-4BD3-8089-3DF31A907F8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0056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436B20D-87D5-40BB-CD47-FD4BB5D73B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50A5A0D-2630-D49A-9C72-FC3B818E3E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DD3E8D6-FFA7-EA72-C5B5-2BE10A614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6B052-9E16-4974-A68D-10AB613DB7B5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C652150-AA9D-AABB-0154-54293F911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5F56FA0-0BB8-8A9E-654B-1BD1FB503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40CE6-9A46-4BD3-8089-3DF31A907F8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1679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68000">
              <a:srgbClr val="86572E"/>
            </a:gs>
            <a:gs pos="44000">
              <a:srgbClr val="363E42"/>
            </a:gs>
            <a:gs pos="92000">
              <a:srgbClr val="E68029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9E80B78-E2D3-2065-BC5D-3E9F2E188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2A30DD4-79E3-8F14-8CF7-D91DE17D80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19276CC-3DF0-0748-74DC-D2AFA21909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76B052-9E16-4974-A68D-10AB613DB7B5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2555D9C-F05E-425D-EA01-EE66020C7F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D5D81FB-E97D-82C0-0AC8-8D391CD618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B40CE6-9A46-4BD3-8089-3DF31A907F8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2454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9C1AFC0-0060-64B6-C7A0-668682B787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97057" y="4923324"/>
            <a:ext cx="7394835" cy="386595"/>
          </a:xfrm>
          <a:noFill/>
        </p:spPr>
        <p:txBody>
          <a:bodyPr>
            <a:noAutofit/>
          </a:bodyPr>
          <a:lstStyle/>
          <a:p>
            <a:pPr algn="l"/>
            <a:r>
              <a:rPr lang="de-AT" b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Eichelberger | Gutmann | Fellegger | Hänsler | Moser </a:t>
            </a:r>
            <a:endParaRPr lang="en-GB" b="1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1C3269B4-CFB9-3214-5E98-3780A5CEE12C}"/>
              </a:ext>
            </a:extLst>
          </p:cNvPr>
          <p:cNvGrpSpPr/>
          <p:nvPr/>
        </p:nvGrpSpPr>
        <p:grpSpPr>
          <a:xfrm>
            <a:off x="2208275" y="1073484"/>
            <a:ext cx="7772400" cy="3506396"/>
            <a:chOff x="2208275" y="1073484"/>
            <a:chExt cx="7772400" cy="3506396"/>
          </a:xfrm>
        </p:grpSpPr>
        <p:pic>
          <p:nvPicPr>
            <p:cNvPr id="11" name="Grafik 10" descr="Ein Bild, das Grafiken, Clipart, Cartoon, Logo enthält.&#10;&#10;KI-generierte Inhalte können fehlerhaft sein.">
              <a:extLst>
                <a:ext uri="{FF2B5EF4-FFF2-40B4-BE49-F238E27FC236}">
                  <a16:creationId xmlns:a16="http://schemas.microsoft.com/office/drawing/2014/main" id="{5374DC18-EC9D-059D-534A-D9ADA57974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5726"/>
            <a:stretch>
              <a:fillRect/>
            </a:stretch>
          </p:blipFill>
          <p:spPr>
            <a:xfrm>
              <a:off x="2208275" y="1073484"/>
              <a:ext cx="7772400" cy="2688356"/>
            </a:xfrm>
            <a:prstGeom prst="rect">
              <a:avLst/>
            </a:prstGeom>
          </p:spPr>
        </p:pic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8D7BF1EC-5722-F8C0-2844-D080AAD0B97F}"/>
                </a:ext>
              </a:extLst>
            </p:cNvPr>
            <p:cNvSpPr txBox="1"/>
            <p:nvPr/>
          </p:nvSpPr>
          <p:spPr>
            <a:xfrm>
              <a:off x="4456432" y="3810439"/>
              <a:ext cx="332026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4400" b="1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GastroChef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31470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FD3AD11-7452-EC5E-5A80-4342CBD5D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6599" y="1636879"/>
            <a:ext cx="5584361" cy="358424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de-AT" b="1" noProof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Was ist der GastroChef</a:t>
            </a:r>
          </a:p>
          <a:p>
            <a:pPr>
              <a:lnSpc>
                <a:spcPct val="150000"/>
              </a:lnSpc>
            </a:pPr>
            <a:r>
              <a:rPr lang="de-AT" b="1" noProof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Rechnungscodes erstellen</a:t>
            </a:r>
          </a:p>
          <a:p>
            <a:pPr>
              <a:lnSpc>
                <a:spcPct val="150000"/>
              </a:lnSpc>
            </a:pPr>
            <a:r>
              <a:rPr lang="de-AT" b="1" noProof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Demo</a:t>
            </a:r>
          </a:p>
          <a:p>
            <a:pPr>
              <a:lnSpc>
                <a:spcPct val="150000"/>
              </a:lnSpc>
            </a:pPr>
            <a:r>
              <a:rPr lang="de-AT" b="1" noProof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Datenbank</a:t>
            </a:r>
          </a:p>
          <a:p>
            <a:pPr>
              <a:lnSpc>
                <a:spcPct val="150000"/>
              </a:lnSpc>
            </a:pPr>
            <a:r>
              <a:rPr lang="de-AT" b="1" noProof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Projektstruktur</a:t>
            </a:r>
          </a:p>
          <a:p>
            <a:pPr>
              <a:lnSpc>
                <a:spcPct val="150000"/>
              </a:lnSpc>
            </a:pPr>
            <a:r>
              <a:rPr lang="de-AT" b="1" noProof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Datenfluss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0AE8767-D212-DDE8-3AB1-BDA12632A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599" y="149860"/>
            <a:ext cx="4589493" cy="1578308"/>
          </a:xfrm>
        </p:spPr>
        <p:txBody>
          <a:bodyPr>
            <a:normAutofit/>
          </a:bodyPr>
          <a:lstStyle/>
          <a:p>
            <a:r>
              <a:rPr lang="de-AT" sz="40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Inhalt</a:t>
            </a:r>
            <a:endParaRPr lang="en-GB" sz="4000" b="1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BBF17D11-EC68-B74E-E261-EBBEB4CE2EB1}"/>
              </a:ext>
            </a:extLst>
          </p:cNvPr>
          <p:cNvGrpSpPr/>
          <p:nvPr/>
        </p:nvGrpSpPr>
        <p:grpSpPr>
          <a:xfrm>
            <a:off x="4916322" y="1545590"/>
            <a:ext cx="7772400" cy="3506396"/>
            <a:chOff x="2208275" y="1073484"/>
            <a:chExt cx="7772400" cy="3506396"/>
          </a:xfrm>
        </p:grpSpPr>
        <p:pic>
          <p:nvPicPr>
            <p:cNvPr id="6" name="Grafik 5" descr="Ein Bild, das Grafiken, Clipart, Cartoon, Logo enthält.&#10;&#10;KI-generierte Inhalte können fehlerhaft sein.">
              <a:extLst>
                <a:ext uri="{FF2B5EF4-FFF2-40B4-BE49-F238E27FC236}">
                  <a16:creationId xmlns:a16="http://schemas.microsoft.com/office/drawing/2014/main" id="{1715344D-B94C-4A4A-0132-50868F5BA2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5726"/>
            <a:stretch>
              <a:fillRect/>
            </a:stretch>
          </p:blipFill>
          <p:spPr>
            <a:xfrm>
              <a:off x="2208275" y="1073484"/>
              <a:ext cx="7772400" cy="2688356"/>
            </a:xfrm>
            <a:prstGeom prst="rect">
              <a:avLst/>
            </a:prstGeom>
          </p:spPr>
        </p:pic>
        <p:sp>
          <p:nvSpPr>
            <p:cNvPr id="7" name="Textfeld 6">
              <a:extLst>
                <a:ext uri="{FF2B5EF4-FFF2-40B4-BE49-F238E27FC236}">
                  <a16:creationId xmlns:a16="http://schemas.microsoft.com/office/drawing/2014/main" id="{326C13FF-A114-D8A8-FE55-C9D8E4B160A5}"/>
                </a:ext>
              </a:extLst>
            </p:cNvPr>
            <p:cNvSpPr txBox="1"/>
            <p:nvPr/>
          </p:nvSpPr>
          <p:spPr>
            <a:xfrm>
              <a:off x="4456432" y="3810439"/>
              <a:ext cx="332026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4400" b="1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GastroChef</a:t>
              </a:r>
            </a:p>
          </p:txBody>
        </p:sp>
      </p:grpSp>
      <p:pic>
        <p:nvPicPr>
          <p:cNvPr id="8" name="Grafik 7" descr="Ein Bild, das Text, Mann, Handy, Cartoon enthält.&#10;&#10;KI-generierte Inhalte können fehlerhaft sein.">
            <a:extLst>
              <a:ext uri="{FF2B5EF4-FFF2-40B4-BE49-F238E27FC236}">
                <a16:creationId xmlns:a16="http://schemas.microsoft.com/office/drawing/2014/main" id="{65F74F68-780E-3B71-2852-C07DE885639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4598" b="28736"/>
          <a:stretch>
            <a:fillRect/>
          </a:stretch>
        </p:blipFill>
        <p:spPr>
          <a:xfrm>
            <a:off x="826599" y="7347168"/>
            <a:ext cx="6858000" cy="2514617"/>
          </a:xfrm>
          <a:prstGeom prst="rect">
            <a:avLst/>
          </a:prstGeom>
        </p:spPr>
      </p:pic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DC5FDB4B-3B8C-5D3D-8781-544CE21C1295}"/>
              </a:ext>
            </a:extLst>
          </p:cNvPr>
          <p:cNvGrpSpPr/>
          <p:nvPr/>
        </p:nvGrpSpPr>
        <p:grpSpPr>
          <a:xfrm>
            <a:off x="826599" y="-3620344"/>
            <a:ext cx="10515600" cy="3280900"/>
            <a:chOff x="826599" y="-3620344"/>
            <a:chExt cx="10515600" cy="3280900"/>
          </a:xfrm>
        </p:grpSpPr>
        <p:sp>
          <p:nvSpPr>
            <p:cNvPr id="9" name="Titel 1">
              <a:extLst>
                <a:ext uri="{FF2B5EF4-FFF2-40B4-BE49-F238E27FC236}">
                  <a16:creationId xmlns:a16="http://schemas.microsoft.com/office/drawing/2014/main" id="{725CFBBE-9769-7B71-1E51-05627C7E5D2F}"/>
                </a:ext>
              </a:extLst>
            </p:cNvPr>
            <p:cNvSpPr txBox="1">
              <a:spLocks/>
            </p:cNvSpPr>
            <p:nvPr/>
          </p:nvSpPr>
          <p:spPr>
            <a:xfrm>
              <a:off x="826599" y="-3620344"/>
              <a:ext cx="10515600" cy="1325563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de-AT" b="1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Was ist der GastroChef</a:t>
              </a:r>
              <a:endParaRPr lang="en-GB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" name="Inhaltsplatzhalter 2">
              <a:extLst>
                <a:ext uri="{FF2B5EF4-FFF2-40B4-BE49-F238E27FC236}">
                  <a16:creationId xmlns:a16="http://schemas.microsoft.com/office/drawing/2014/main" id="{CBC0078C-3182-8637-9231-2EFF83DF0F89}"/>
                </a:ext>
              </a:extLst>
            </p:cNvPr>
            <p:cNvSpPr txBox="1">
              <a:spLocks/>
            </p:cNvSpPr>
            <p:nvPr/>
          </p:nvSpPr>
          <p:spPr>
            <a:xfrm>
              <a:off x="826599" y="-2515484"/>
              <a:ext cx="10515600" cy="217604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lnSpcReduction="1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de-AT" b="1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Restaurant App für Treupunkte</a:t>
              </a:r>
            </a:p>
            <a:p>
              <a:pPr marL="0" indent="0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de-AT" b="1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Rechnungscode </a:t>
              </a:r>
            </a:p>
            <a:p>
              <a:pPr marL="0" indent="0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de-AT" b="1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Gutscheine einlösen</a:t>
              </a:r>
            </a:p>
            <a:p>
              <a:pPr marL="0" indent="0">
                <a:lnSpc>
                  <a:spcPct val="150000"/>
                </a:lnSpc>
                <a:buFont typeface="Arial" panose="020B0604020202020204" pitchFamily="34" charset="0"/>
                <a:buNone/>
              </a:pPr>
              <a:endParaRPr lang="en-GB" b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03189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Text, Mann, Handy, Cartoon enthält.&#10;&#10;KI-generierte Inhalte können fehlerhaft sein.">
            <a:extLst>
              <a:ext uri="{FF2B5EF4-FFF2-40B4-BE49-F238E27FC236}">
                <a16:creationId xmlns:a16="http://schemas.microsoft.com/office/drawing/2014/main" id="{CA0D4C9D-506E-9A2D-16C6-A1140D6BE8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4598" b="28736"/>
          <a:stretch>
            <a:fillRect/>
          </a:stretch>
        </p:blipFill>
        <p:spPr>
          <a:xfrm>
            <a:off x="838200" y="3864272"/>
            <a:ext cx="6858000" cy="2514617"/>
          </a:xfrm>
          <a:prstGeom prst="rect">
            <a:avLst/>
          </a:prstGeom>
        </p:spPr>
      </p:pic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05F98205-2414-7DCB-EAFB-9D48E5D6E408}"/>
              </a:ext>
            </a:extLst>
          </p:cNvPr>
          <p:cNvGrpSpPr/>
          <p:nvPr/>
        </p:nvGrpSpPr>
        <p:grpSpPr>
          <a:xfrm>
            <a:off x="838200" y="279852"/>
            <a:ext cx="10515600" cy="3280900"/>
            <a:chOff x="826599" y="-3620344"/>
            <a:chExt cx="10515600" cy="3280900"/>
          </a:xfrm>
        </p:grpSpPr>
        <p:sp>
          <p:nvSpPr>
            <p:cNvPr id="10" name="Titel 1">
              <a:extLst>
                <a:ext uri="{FF2B5EF4-FFF2-40B4-BE49-F238E27FC236}">
                  <a16:creationId xmlns:a16="http://schemas.microsoft.com/office/drawing/2014/main" id="{589C0B97-C520-850F-BEC4-81DFECC29FAD}"/>
                </a:ext>
              </a:extLst>
            </p:cNvPr>
            <p:cNvSpPr txBox="1">
              <a:spLocks/>
            </p:cNvSpPr>
            <p:nvPr/>
          </p:nvSpPr>
          <p:spPr>
            <a:xfrm>
              <a:off x="826599" y="-3620344"/>
              <a:ext cx="10515600" cy="1325563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de-AT" b="1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Was ist der GastroChef</a:t>
              </a:r>
              <a:endParaRPr lang="en-GB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" name="Inhaltsplatzhalter 2">
              <a:extLst>
                <a:ext uri="{FF2B5EF4-FFF2-40B4-BE49-F238E27FC236}">
                  <a16:creationId xmlns:a16="http://schemas.microsoft.com/office/drawing/2014/main" id="{E2E4069D-9C29-5BCE-20C6-C3E6C4F52221}"/>
                </a:ext>
              </a:extLst>
            </p:cNvPr>
            <p:cNvSpPr txBox="1">
              <a:spLocks/>
            </p:cNvSpPr>
            <p:nvPr/>
          </p:nvSpPr>
          <p:spPr>
            <a:xfrm>
              <a:off x="826599" y="-2515484"/>
              <a:ext cx="10515600" cy="217604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lnSpcReduction="1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de-AT" b="1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Restaurant App für Treupunkte</a:t>
              </a:r>
            </a:p>
            <a:p>
              <a:pPr marL="0" indent="0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de-AT" b="1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Rechnungscode </a:t>
              </a:r>
            </a:p>
            <a:p>
              <a:pPr marL="0" indent="0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de-AT" b="1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Gutscheine einlösen</a:t>
              </a:r>
            </a:p>
            <a:p>
              <a:pPr marL="0" indent="0">
                <a:lnSpc>
                  <a:spcPct val="150000"/>
                </a:lnSpc>
                <a:buFont typeface="Arial" panose="020B0604020202020204" pitchFamily="34" charset="0"/>
                <a:buNone/>
              </a:pPr>
              <a:endParaRPr lang="en-GB" b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</p:grp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01EE3BE0-EB7A-30D1-2BBD-871169D434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9817347" y="1871924"/>
            <a:ext cx="9176281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de-AT" b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Via Rest-</a:t>
            </a:r>
            <a:r>
              <a:rPr lang="de-AT" b="1" err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Endpoint</a:t>
            </a:r>
            <a:r>
              <a:rPr lang="de-AT" b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mit Postman</a:t>
            </a:r>
          </a:p>
          <a:p>
            <a:pPr>
              <a:lnSpc>
                <a:spcPct val="150000"/>
              </a:lnSpc>
            </a:pPr>
            <a:r>
              <a:rPr lang="de-AT" b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Rechnungscode erstellen: </a:t>
            </a:r>
          </a:p>
          <a:p>
            <a:pPr lvl="1">
              <a:lnSpc>
                <a:spcPct val="150000"/>
              </a:lnSpc>
            </a:pPr>
            <a:r>
              <a:rPr lang="de-AT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POST </a:t>
            </a:r>
            <a:r>
              <a:rPr lang="en-GB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localhost:8080/</a:t>
            </a:r>
            <a:r>
              <a:rPr lang="en-GB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api</a:t>
            </a:r>
            <a:r>
              <a:rPr lang="en-GB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/bills/</a:t>
            </a:r>
            <a:r>
              <a:rPr lang="en-GB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create?points</a:t>
            </a:r>
            <a:r>
              <a:rPr lang="en-GB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=</a:t>
            </a:r>
          </a:p>
          <a:p>
            <a:pPr>
              <a:lnSpc>
                <a:spcPct val="150000"/>
              </a:lnSpc>
            </a:pPr>
            <a:r>
              <a:rPr lang="de-AT" b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Rechnungscodes abrufen:  </a:t>
            </a:r>
          </a:p>
          <a:p>
            <a:pPr lvl="1">
              <a:lnSpc>
                <a:spcPct val="150000"/>
              </a:lnSpc>
            </a:pPr>
            <a:r>
              <a:rPr lang="de-AT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GET </a:t>
            </a:r>
            <a:r>
              <a:rPr lang="en-GB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http://localhost:8080/api/bills/all</a:t>
            </a:r>
          </a:p>
        </p:txBody>
      </p:sp>
      <p:sp>
        <p:nvSpPr>
          <p:cNvPr id="16" name="Titel 1">
            <a:extLst>
              <a:ext uri="{FF2B5EF4-FFF2-40B4-BE49-F238E27FC236}">
                <a16:creationId xmlns:a16="http://schemas.microsoft.com/office/drawing/2014/main" id="{25E58541-4586-7235-311F-D95EE5430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0030" y="365125"/>
            <a:ext cx="10515600" cy="1325563"/>
          </a:xfrm>
        </p:spPr>
        <p:txBody>
          <a:bodyPr/>
          <a:lstStyle/>
          <a:p>
            <a:r>
              <a:rPr lang="de-AT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Rechnungscodes erstellen</a:t>
            </a:r>
            <a:endParaRPr lang="en-GB" b="1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81830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A8298A-A259-F1B9-1F75-990D49299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Rechnungscodes erstellen</a:t>
            </a:r>
            <a:endParaRPr lang="en-GB" b="1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B8D4FDC-41C1-193A-10AE-E9FE43478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1924"/>
            <a:ext cx="9176281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de-AT" b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Via Rest-</a:t>
            </a:r>
            <a:r>
              <a:rPr lang="de-AT" b="1" err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Endpoint</a:t>
            </a:r>
            <a:r>
              <a:rPr lang="de-AT" b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mit Postman</a:t>
            </a:r>
          </a:p>
          <a:p>
            <a:pPr>
              <a:lnSpc>
                <a:spcPct val="150000"/>
              </a:lnSpc>
            </a:pPr>
            <a:r>
              <a:rPr lang="de-AT" b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Rechnungscode erstellen: </a:t>
            </a:r>
          </a:p>
          <a:p>
            <a:pPr lvl="1">
              <a:lnSpc>
                <a:spcPct val="150000"/>
              </a:lnSpc>
            </a:pPr>
            <a:r>
              <a:rPr lang="de-AT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POST </a:t>
            </a:r>
            <a:r>
              <a:rPr lang="en-GB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localhost:8080/</a:t>
            </a:r>
            <a:r>
              <a:rPr lang="en-GB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api</a:t>
            </a:r>
            <a:r>
              <a:rPr lang="en-GB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/bills/</a:t>
            </a:r>
            <a:r>
              <a:rPr lang="en-GB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create?points</a:t>
            </a:r>
            <a:r>
              <a:rPr lang="en-GB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=</a:t>
            </a:r>
          </a:p>
          <a:p>
            <a:pPr>
              <a:lnSpc>
                <a:spcPct val="150000"/>
              </a:lnSpc>
            </a:pPr>
            <a:r>
              <a:rPr lang="de-AT" b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Rechnungscodes abrufen:  </a:t>
            </a:r>
          </a:p>
          <a:p>
            <a:pPr lvl="1">
              <a:lnSpc>
                <a:spcPct val="150000"/>
              </a:lnSpc>
            </a:pPr>
            <a:r>
              <a:rPr lang="de-AT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GET </a:t>
            </a:r>
            <a:r>
              <a:rPr lang="en-GB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http://localhost:8080/api/bills/all</a:t>
            </a: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1E390798-A96B-C2F2-7ECB-44C4C3511E8E}"/>
              </a:ext>
            </a:extLst>
          </p:cNvPr>
          <p:cNvSpPr txBox="1">
            <a:spLocks/>
          </p:cNvSpPr>
          <p:nvPr/>
        </p:nvSpPr>
        <p:spPr>
          <a:xfrm>
            <a:off x="5213181" y="7207586"/>
            <a:ext cx="176563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AT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Demo</a:t>
            </a:r>
            <a:endParaRPr lang="en-GB" b="1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78938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951387-966D-0B23-B794-EE8D0CC66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3181" y="2766218"/>
            <a:ext cx="1765638" cy="1325563"/>
          </a:xfrm>
        </p:spPr>
        <p:txBody>
          <a:bodyPr/>
          <a:lstStyle/>
          <a:p>
            <a:r>
              <a:rPr lang="de-AT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Demo</a:t>
            </a:r>
            <a:endParaRPr lang="en-GB" b="1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Inhaltsplatzhalter 4" descr="Ein Bild, das Text, Screenshot, Software, Multimedia-Software enthält.&#10;&#10;KI-generierte Inhalte können fehlerhaft sein.">
            <a:extLst>
              <a:ext uri="{FF2B5EF4-FFF2-40B4-BE49-F238E27FC236}">
                <a16:creationId xmlns:a16="http://schemas.microsoft.com/office/drawing/2014/main" id="{31D67C02-8261-DA23-456A-E1E41E6FD0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53005" y="1340907"/>
            <a:ext cx="7047804" cy="5040000"/>
          </a:xfrm>
        </p:spPr>
      </p:pic>
      <p:sp>
        <p:nvSpPr>
          <p:cNvPr id="7" name="Titel 1">
            <a:extLst>
              <a:ext uri="{FF2B5EF4-FFF2-40B4-BE49-F238E27FC236}">
                <a16:creationId xmlns:a16="http://schemas.microsoft.com/office/drawing/2014/main" id="{2969DA1C-806C-5C70-644E-86DAF8D10B62}"/>
              </a:ext>
            </a:extLst>
          </p:cNvPr>
          <p:cNvSpPr txBox="1">
            <a:spLocks/>
          </p:cNvSpPr>
          <p:nvPr/>
        </p:nvSpPr>
        <p:spPr>
          <a:xfrm>
            <a:off x="4571257" y="-1433059"/>
            <a:ext cx="304948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AT" b="1" noProof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Datenbank</a:t>
            </a:r>
          </a:p>
        </p:txBody>
      </p:sp>
    </p:spTree>
    <p:extLst>
      <p:ext uri="{BB962C8B-B14F-4D97-AF65-F5344CB8AC3E}">
        <p14:creationId xmlns:p14="http://schemas.microsoft.com/office/powerpoint/2010/main" val="12989190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808BD7-C8CC-B303-A3AD-3773C4D79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4346" y="41162"/>
            <a:ext cx="3623226" cy="1325563"/>
          </a:xfrm>
        </p:spPr>
        <p:txBody>
          <a:bodyPr/>
          <a:lstStyle/>
          <a:p>
            <a:r>
              <a:rPr lang="de-AT" b="1" noProof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Datenbank</a:t>
            </a:r>
          </a:p>
        </p:txBody>
      </p:sp>
      <p:pic>
        <p:nvPicPr>
          <p:cNvPr id="5" name="Inhaltsplatzhalter 4" descr="Ein Bild, das Text, Screenshot, Software, Multimedia-Software enthält.&#10;&#10;KI-generierte Inhalte können fehlerhaft sein.">
            <a:extLst>
              <a:ext uri="{FF2B5EF4-FFF2-40B4-BE49-F238E27FC236}">
                <a16:creationId xmlns:a16="http://schemas.microsoft.com/office/drawing/2014/main" id="{E3D43746-5F6D-6E8C-A160-8DF9A64B24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2098" y="1452875"/>
            <a:ext cx="7047804" cy="5040000"/>
          </a:xfrm>
        </p:spPr>
      </p:pic>
      <p:sp>
        <p:nvSpPr>
          <p:cNvPr id="3" name="Titel 1">
            <a:extLst>
              <a:ext uri="{FF2B5EF4-FFF2-40B4-BE49-F238E27FC236}">
                <a16:creationId xmlns:a16="http://schemas.microsoft.com/office/drawing/2014/main" id="{DB135012-0C90-4ED7-8E69-6DB56B912DA9}"/>
              </a:ext>
            </a:extLst>
          </p:cNvPr>
          <p:cNvSpPr txBox="1">
            <a:spLocks/>
          </p:cNvSpPr>
          <p:nvPr/>
        </p:nvSpPr>
        <p:spPr>
          <a:xfrm>
            <a:off x="-5631435" y="331702"/>
            <a:ext cx="3841353" cy="7444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AT" b="1" noProof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Projektstruktur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57FDA095-EC3E-B156-D326-527AEE726C79}"/>
              </a:ext>
            </a:extLst>
          </p:cNvPr>
          <p:cNvSpPr txBox="1"/>
          <p:nvPr/>
        </p:nvSpPr>
        <p:spPr>
          <a:xfrm>
            <a:off x="-6784381" y="1293918"/>
            <a:ext cx="6301911" cy="5563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24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Aufbau: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2400" b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Backend: Springboot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2400" b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Frontend: HTML + CSS + JS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2400" b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Datenfluss: REST-Schnittstellen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2400" b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Datenhaltung: Relationale Datenbank mit JPA und Hibernate</a:t>
            </a:r>
          </a:p>
          <a:p>
            <a:pPr>
              <a:lnSpc>
                <a:spcPct val="150000"/>
              </a:lnSpc>
            </a:pPr>
            <a:r>
              <a:rPr lang="de-DE" sz="24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Umsetzung: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2400" b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Layered Architecture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2400" b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DTO Pattern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de-DE" sz="2400" b="1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6" name="Inhaltsplatzhalter 9" descr="Ein Bild, das Text, Screenshot, Karte Menü, Design enthält.&#10;&#10;KI-generierte Inhalte können fehlerhaft sein.">
            <a:extLst>
              <a:ext uri="{FF2B5EF4-FFF2-40B4-BE49-F238E27FC236}">
                <a16:creationId xmlns:a16="http://schemas.microsoft.com/office/drawing/2014/main" id="{92A90FFF-F5C4-B562-8EEF-1B6544DEED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6795" y="571"/>
            <a:ext cx="5623249" cy="686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9876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EAFA1C-8E87-28B9-6158-8F4593064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2513" y="331702"/>
            <a:ext cx="3841353" cy="744484"/>
          </a:xfrm>
        </p:spPr>
        <p:txBody>
          <a:bodyPr>
            <a:normAutofit fontScale="90000"/>
          </a:bodyPr>
          <a:lstStyle/>
          <a:p>
            <a:r>
              <a:rPr lang="de-AT" b="1" noProof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Projektstruktur</a:t>
            </a:r>
          </a:p>
        </p:txBody>
      </p:sp>
      <p:pic>
        <p:nvPicPr>
          <p:cNvPr id="10" name="Inhaltsplatzhalter 9" descr="Ein Bild, das Text, Screenshot, Karte Menü, Design enthält.&#10;&#10;KI-generierte Inhalte können fehlerhaft sein.">
            <a:extLst>
              <a:ext uri="{FF2B5EF4-FFF2-40B4-BE49-F238E27FC236}">
                <a16:creationId xmlns:a16="http://schemas.microsoft.com/office/drawing/2014/main" id="{5EB8575E-4068-9D94-490D-B880E29A48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1478" y="571"/>
            <a:ext cx="5623249" cy="6867704"/>
          </a:xfr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A2403AAE-5E8E-04C2-A406-2FD009FC6105}"/>
              </a:ext>
            </a:extLst>
          </p:cNvPr>
          <p:cNvSpPr txBox="1"/>
          <p:nvPr/>
        </p:nvSpPr>
        <p:spPr>
          <a:xfrm>
            <a:off x="269567" y="1293918"/>
            <a:ext cx="6301911" cy="5563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24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Aufbau: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2400" b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Backend: Springboot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2400" b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Frontend: HTML + CSS + JS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2400" b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Datenfluss: REST-Schnittstellen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2400" b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Datenhaltung: Relationale Datenbank mit JPA und Hibernate</a:t>
            </a:r>
          </a:p>
          <a:p>
            <a:pPr>
              <a:lnSpc>
                <a:spcPct val="150000"/>
              </a:lnSpc>
            </a:pPr>
            <a:r>
              <a:rPr lang="de-DE" sz="24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Umsetzung: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2400" b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Layered Architecture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2400" b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DTO Pattern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de-DE" sz="2400" b="1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C8A73EB4-571C-5259-A79A-917C26A25255}"/>
              </a:ext>
            </a:extLst>
          </p:cNvPr>
          <p:cNvSpPr txBox="1">
            <a:spLocks/>
          </p:cNvSpPr>
          <p:nvPr/>
        </p:nvSpPr>
        <p:spPr>
          <a:xfrm>
            <a:off x="838200" y="-207327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AT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Datenfluss „Rechnung“ Überblick</a:t>
            </a:r>
            <a:endParaRPr lang="en-GB" b="1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5EFCA538-307E-7356-565F-BB31FED58C2F}"/>
              </a:ext>
            </a:extLst>
          </p:cNvPr>
          <p:cNvSpPr txBox="1">
            <a:spLocks/>
          </p:cNvSpPr>
          <p:nvPr/>
        </p:nvSpPr>
        <p:spPr>
          <a:xfrm>
            <a:off x="-9677400" y="1900004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AT" b="1" noProof="1">
                <a:solidFill>
                  <a:schemeClr val="bg1"/>
                </a:solidFill>
                <a:latin typeface="Segoe UI Semibold" panose="020B0702040204020203" pitchFamily="34" charset="0"/>
                <a:ea typeface="+mn-lt"/>
                <a:cs typeface="Segoe UI Semibold" panose="020B0702040204020203" pitchFamily="34" charset="0"/>
              </a:rPr>
              <a:t>Frontend</a:t>
            </a:r>
            <a:endParaRPr lang="de-AT" b="1" noProof="1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lvl="1"/>
            <a:r>
              <a:rPr lang="de-AT" noProof="1">
                <a:solidFill>
                  <a:schemeClr val="bg1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User gibt Rechnungsdaten ein</a:t>
            </a:r>
            <a:endParaRPr lang="de-AT" noProof="1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/>
            <a:r>
              <a:rPr lang="de-AT" noProof="1">
                <a:solidFill>
                  <a:schemeClr val="bg1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Klick auf „Rechnung einlösen“</a:t>
            </a:r>
            <a:endParaRPr lang="de-AT" noProof="1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/>
            <a:r>
              <a:rPr lang="de-AT" noProof="1">
                <a:solidFill>
                  <a:schemeClr val="bg1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Sendet HTTP </a:t>
            </a:r>
            <a:r>
              <a:rPr lang="de-AT" noProof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POST</a:t>
            </a:r>
            <a:r>
              <a:rPr lang="de-AT" noProof="1">
                <a:solidFill>
                  <a:schemeClr val="bg1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 Request an Backend</a:t>
            </a:r>
            <a:endParaRPr lang="de-AT" noProof="1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de-AT" b="1" noProof="1">
                <a:solidFill>
                  <a:schemeClr val="bg1"/>
                </a:solidFill>
                <a:latin typeface="Segoe UI Semibold" panose="020B0702040204020203" pitchFamily="34" charset="0"/>
                <a:ea typeface="+mn-lt"/>
                <a:cs typeface="Segoe UI Semibold" panose="020B0702040204020203" pitchFamily="34" charset="0"/>
              </a:rPr>
              <a:t>Backend</a:t>
            </a:r>
            <a:endParaRPr lang="de-AT" b="1" noProof="1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lvl="1"/>
            <a:r>
              <a:rPr lang="de-AT" noProof="1">
                <a:solidFill>
                  <a:schemeClr val="bg1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Request wird über mehrere Schichten verarbeitet:</a:t>
            </a:r>
            <a:endParaRPr lang="de-AT" noProof="1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de-AT" noProof="1">
                <a:solidFill>
                  <a:schemeClr val="bg1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Controller</a:t>
            </a:r>
            <a:endParaRPr lang="de-AT" noProof="1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de-AT" noProof="1">
                <a:solidFill>
                  <a:schemeClr val="bg1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Service</a:t>
            </a:r>
            <a:endParaRPr lang="de-AT" noProof="1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de-AT" noProof="1">
                <a:solidFill>
                  <a:schemeClr val="bg1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Repository</a:t>
            </a:r>
            <a:endParaRPr lang="de-AT" noProof="1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de-AT" b="1" noProof="1">
                <a:solidFill>
                  <a:schemeClr val="bg1"/>
                </a:solidFill>
                <a:latin typeface="Segoe UI Semibold" panose="020B0702040204020203" pitchFamily="34" charset="0"/>
                <a:ea typeface="+mn-lt"/>
                <a:cs typeface="Segoe UI Semibold" panose="020B0702040204020203" pitchFamily="34" charset="0"/>
              </a:rPr>
              <a:t>Datenbank</a:t>
            </a:r>
          </a:p>
          <a:p>
            <a:pPr lvl="1"/>
            <a:r>
              <a:rPr lang="de-AT" noProof="1">
                <a:solidFill>
                  <a:schemeClr val="bg1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Rechnung wird als eingelöst gespeichert</a:t>
            </a:r>
            <a:endParaRPr lang="de-AT" noProof="1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de-AT" b="1" noProof="1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19875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3877D4-7018-5569-A13E-E3151BF84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Datenfluss „Rechnung“ Überblick</a:t>
            </a:r>
            <a:endParaRPr lang="en-GB" b="1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AA1088-45DB-4523-6C6A-2773024E2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de-AT" b="1" noProof="1">
                <a:solidFill>
                  <a:schemeClr val="bg1"/>
                </a:solidFill>
                <a:latin typeface="Segoe UI Semibold" panose="020B0702040204020203" pitchFamily="34" charset="0"/>
                <a:ea typeface="+mn-lt"/>
                <a:cs typeface="Segoe UI Semibold" panose="020B0702040204020203" pitchFamily="34" charset="0"/>
              </a:rPr>
              <a:t>Frontend</a:t>
            </a:r>
            <a:endParaRPr lang="de-AT" b="1" noProof="1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lvl="1"/>
            <a:r>
              <a:rPr lang="de-AT" noProof="1">
                <a:solidFill>
                  <a:schemeClr val="bg1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User gibt Rechnungsdaten ein</a:t>
            </a:r>
            <a:endParaRPr lang="de-AT" noProof="1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/>
            <a:r>
              <a:rPr lang="de-AT" noProof="1">
                <a:solidFill>
                  <a:schemeClr val="bg1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Klick auf „Rechnung einlösen“</a:t>
            </a:r>
            <a:endParaRPr lang="de-AT" noProof="1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/>
            <a:r>
              <a:rPr lang="de-AT" noProof="1">
                <a:solidFill>
                  <a:schemeClr val="bg1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Sendet HTTP </a:t>
            </a:r>
            <a:r>
              <a:rPr lang="de-AT" noProof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POST</a:t>
            </a:r>
            <a:r>
              <a:rPr lang="de-AT" noProof="1">
                <a:solidFill>
                  <a:schemeClr val="bg1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 Request an Backend</a:t>
            </a:r>
            <a:endParaRPr lang="de-AT" noProof="1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de-AT" b="1" noProof="1">
                <a:solidFill>
                  <a:schemeClr val="bg1"/>
                </a:solidFill>
                <a:latin typeface="Segoe UI Semibold" panose="020B0702040204020203" pitchFamily="34" charset="0"/>
                <a:ea typeface="+mn-lt"/>
                <a:cs typeface="Segoe UI Semibold" panose="020B0702040204020203" pitchFamily="34" charset="0"/>
              </a:rPr>
              <a:t>Backend</a:t>
            </a:r>
            <a:endParaRPr lang="de-AT" b="1" noProof="1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lvl="1"/>
            <a:r>
              <a:rPr lang="de-AT" noProof="1">
                <a:solidFill>
                  <a:schemeClr val="bg1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Request wird über mehrere Schichten verarbeitet:</a:t>
            </a:r>
            <a:endParaRPr lang="de-AT" noProof="1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de-AT" noProof="1">
                <a:solidFill>
                  <a:schemeClr val="bg1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Controller</a:t>
            </a:r>
            <a:endParaRPr lang="de-AT" noProof="1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de-AT" noProof="1">
                <a:solidFill>
                  <a:schemeClr val="bg1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Service</a:t>
            </a:r>
            <a:endParaRPr lang="de-AT" noProof="1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de-AT" noProof="1">
                <a:solidFill>
                  <a:schemeClr val="bg1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Repository</a:t>
            </a:r>
            <a:endParaRPr lang="de-AT" noProof="1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de-AT" b="1" noProof="1">
                <a:solidFill>
                  <a:schemeClr val="bg1"/>
                </a:solidFill>
                <a:latin typeface="Segoe UI Semibold" panose="020B0702040204020203" pitchFamily="34" charset="0"/>
                <a:ea typeface="+mn-lt"/>
                <a:cs typeface="Segoe UI Semibold" panose="020B0702040204020203" pitchFamily="34" charset="0"/>
              </a:rPr>
              <a:t>Datenbank</a:t>
            </a:r>
          </a:p>
          <a:p>
            <a:pPr lvl="1"/>
            <a:r>
              <a:rPr lang="de-AT" noProof="1">
                <a:solidFill>
                  <a:schemeClr val="bg1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Rechnung wird als eingelöst gespeichert</a:t>
            </a:r>
            <a:endParaRPr lang="de-AT" noProof="1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de-AT" b="1" noProof="1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F37CFC6B-5C56-C2AA-4184-A0DA2578EFD3}"/>
              </a:ext>
            </a:extLst>
          </p:cNvPr>
          <p:cNvSpPr txBox="1">
            <a:spLocks/>
          </p:cNvSpPr>
          <p:nvPr/>
        </p:nvSpPr>
        <p:spPr>
          <a:xfrm>
            <a:off x="838200" y="-174843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Datenfluss Rechnung (</a:t>
            </a:r>
            <a:r>
              <a:rPr lang="de-DE" b="1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detail</a:t>
            </a:r>
            <a:r>
              <a:rPr lang="de-DE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D1BF50A9-B796-E069-4348-7CD027CBECFB}"/>
              </a:ext>
            </a:extLst>
          </p:cNvPr>
          <p:cNvSpPr txBox="1">
            <a:spLocks/>
          </p:cNvSpPr>
          <p:nvPr/>
        </p:nvSpPr>
        <p:spPr>
          <a:xfrm>
            <a:off x="838200" y="7380281"/>
            <a:ext cx="10515600" cy="4802187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b="1">
                <a:solidFill>
                  <a:schemeClr val="bg1"/>
                </a:solidFill>
                <a:latin typeface="Segoe UI Semibold" panose="020B0702040204020203" pitchFamily="34" charset="0"/>
                <a:ea typeface="+mn-lt"/>
                <a:cs typeface="Segoe UI Semibold" panose="020B0702040204020203" pitchFamily="34" charset="0"/>
              </a:rPr>
              <a:t>1. Controller-Schicht (/</a:t>
            </a:r>
            <a:r>
              <a:rPr lang="de-DE" b="1" err="1">
                <a:solidFill>
                  <a:schemeClr val="bg1"/>
                </a:solidFill>
                <a:latin typeface="Segoe UI Semibold" panose="020B0702040204020203" pitchFamily="34" charset="0"/>
                <a:ea typeface="+mn-lt"/>
                <a:cs typeface="Segoe UI Semibold" panose="020B0702040204020203" pitchFamily="34" charset="0"/>
              </a:rPr>
              <a:t>api</a:t>
            </a:r>
            <a:r>
              <a:rPr lang="de-DE" b="1">
                <a:solidFill>
                  <a:schemeClr val="bg1"/>
                </a:solidFill>
                <a:latin typeface="Segoe UI Semibold" panose="020B0702040204020203" pitchFamily="34" charset="0"/>
                <a:ea typeface="+mn-lt"/>
                <a:cs typeface="Segoe UI Semibold" panose="020B0702040204020203" pitchFamily="34" charset="0"/>
              </a:rPr>
              <a:t>/</a:t>
            </a:r>
            <a:r>
              <a:rPr lang="de-DE" b="1" err="1">
                <a:solidFill>
                  <a:schemeClr val="bg1"/>
                </a:solidFill>
                <a:latin typeface="Segoe UI Semibold" panose="020B0702040204020203" pitchFamily="34" charset="0"/>
                <a:ea typeface="+mn-lt"/>
                <a:cs typeface="Segoe UI Semibold" panose="020B0702040204020203" pitchFamily="34" charset="0"/>
              </a:rPr>
              <a:t>bills</a:t>
            </a:r>
            <a:r>
              <a:rPr lang="de-DE" b="1">
                <a:solidFill>
                  <a:schemeClr val="bg1"/>
                </a:solidFill>
                <a:latin typeface="Segoe UI Semibold" panose="020B0702040204020203" pitchFamily="34" charset="0"/>
                <a:ea typeface="+mn-lt"/>
                <a:cs typeface="Segoe UI Semibold" panose="020B0702040204020203" pitchFamily="34" charset="0"/>
              </a:rPr>
              <a:t>/</a:t>
            </a:r>
            <a:r>
              <a:rPr lang="de-DE" b="1" err="1">
                <a:solidFill>
                  <a:schemeClr val="bg1"/>
                </a:solidFill>
                <a:latin typeface="Segoe UI Semibold" panose="020B0702040204020203" pitchFamily="34" charset="0"/>
                <a:ea typeface="+mn-lt"/>
                <a:cs typeface="Segoe UI Semibold" panose="020B0702040204020203" pitchFamily="34" charset="0"/>
              </a:rPr>
              <a:t>redeem</a:t>
            </a:r>
            <a:r>
              <a:rPr lang="de-DE" b="1">
                <a:solidFill>
                  <a:schemeClr val="bg1"/>
                </a:solidFill>
                <a:latin typeface="Segoe UI Semibold" panose="020B0702040204020203" pitchFamily="34" charset="0"/>
                <a:ea typeface="+mn-lt"/>
                <a:cs typeface="Segoe UI Semibold" panose="020B0702040204020203" pitchFamily="34" charset="0"/>
              </a:rPr>
              <a:t>)</a:t>
            </a:r>
            <a:endParaRPr lang="de-DE" b="1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lvl="1"/>
            <a:r>
              <a:rPr lang="de-DE">
                <a:solidFill>
                  <a:schemeClr val="bg1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Nimmt REST-Request entgegen</a:t>
            </a:r>
            <a:endParaRPr lang="de-DE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/>
            <a:r>
              <a:rPr lang="de-DE">
                <a:solidFill>
                  <a:schemeClr val="bg1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Validiert Request-Daten</a:t>
            </a:r>
            <a:endParaRPr lang="de-DE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/>
            <a:r>
              <a:rPr lang="de-DE">
                <a:solidFill>
                  <a:schemeClr val="bg1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Leitet Request an Service weiter</a:t>
            </a:r>
            <a:endParaRPr lang="de-DE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de-DE" b="1">
                <a:solidFill>
                  <a:schemeClr val="bg1"/>
                </a:solidFill>
                <a:latin typeface="Segoe UI Semibold" panose="020B0702040204020203" pitchFamily="34" charset="0"/>
                <a:ea typeface="+mn-lt"/>
                <a:cs typeface="Segoe UI Semibold" panose="020B0702040204020203" pitchFamily="34" charset="0"/>
              </a:rPr>
              <a:t>2. Service-Schicht</a:t>
            </a:r>
            <a:endParaRPr lang="de-DE" b="1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lvl="1"/>
            <a:r>
              <a:rPr lang="de-DE">
                <a:solidFill>
                  <a:schemeClr val="bg1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Enthält die Geschäftslogik</a:t>
            </a:r>
            <a:endParaRPr lang="de-DE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/>
            <a:r>
              <a:rPr lang="de-DE">
                <a:solidFill>
                  <a:schemeClr val="bg1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Prüft:</a:t>
            </a:r>
            <a:endParaRPr lang="de-DE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de-DE">
                <a:solidFill>
                  <a:schemeClr val="bg1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Existenz der Rechnung</a:t>
            </a:r>
            <a:endParaRPr lang="de-DE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de-DE" err="1">
                <a:solidFill>
                  <a:schemeClr val="bg1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Einlösestatus</a:t>
            </a:r>
            <a:endParaRPr lang="de-DE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de-DE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Schreibt Punkte dem User gut</a:t>
            </a:r>
          </a:p>
          <a:p>
            <a:r>
              <a:rPr lang="de-DE" b="1">
                <a:solidFill>
                  <a:schemeClr val="bg1"/>
                </a:solidFill>
                <a:latin typeface="Segoe UI Semibold" panose="020B0702040204020203" pitchFamily="34" charset="0"/>
                <a:ea typeface="+mn-lt"/>
                <a:cs typeface="Segoe UI Semibold" panose="020B0702040204020203" pitchFamily="34" charset="0"/>
              </a:rPr>
              <a:t>3. Repository-Schicht</a:t>
            </a:r>
            <a:endParaRPr lang="de-DE" b="1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lvl="1"/>
            <a:r>
              <a:rPr lang="de-DE">
                <a:solidFill>
                  <a:schemeClr val="bg1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Führt Datenbankoperationen aus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de-DE" b="1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lvl="2">
              <a:buFont typeface="Wingdings" panose="020B0604020202020204" pitchFamily="34" charset="0"/>
              <a:buChar char="§"/>
            </a:pPr>
            <a:endParaRPr lang="de-DE" b="1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endParaRPr lang="de-DE" b="1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1223116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A28CA8-6191-09B1-F965-D08DEFAF7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5836"/>
            <a:ext cx="10515600" cy="1325563"/>
          </a:xfrm>
        </p:spPr>
        <p:txBody>
          <a:bodyPr/>
          <a:lstStyle/>
          <a:p>
            <a:r>
              <a:rPr lang="de-DE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Datenfluss Rechnung (</a:t>
            </a:r>
            <a:r>
              <a:rPr lang="de-DE" b="1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detail</a:t>
            </a:r>
            <a:r>
              <a:rPr lang="de-DE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1C891D8-B014-F71B-FDA8-924F831048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9093"/>
            <a:ext cx="10515600" cy="4802187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de-DE" b="1">
                <a:solidFill>
                  <a:schemeClr val="bg1"/>
                </a:solidFill>
                <a:latin typeface="Segoe UI Semibold" panose="020B0702040204020203" pitchFamily="34" charset="0"/>
                <a:ea typeface="+mn-lt"/>
                <a:cs typeface="Segoe UI Semibold" panose="020B0702040204020203" pitchFamily="34" charset="0"/>
              </a:rPr>
              <a:t>1. Controller-Schicht (/</a:t>
            </a:r>
            <a:r>
              <a:rPr lang="de-DE" b="1" err="1">
                <a:solidFill>
                  <a:schemeClr val="bg1"/>
                </a:solidFill>
                <a:latin typeface="Segoe UI Semibold" panose="020B0702040204020203" pitchFamily="34" charset="0"/>
                <a:ea typeface="+mn-lt"/>
                <a:cs typeface="Segoe UI Semibold" panose="020B0702040204020203" pitchFamily="34" charset="0"/>
              </a:rPr>
              <a:t>api</a:t>
            </a:r>
            <a:r>
              <a:rPr lang="de-DE" b="1">
                <a:solidFill>
                  <a:schemeClr val="bg1"/>
                </a:solidFill>
                <a:latin typeface="Segoe UI Semibold" panose="020B0702040204020203" pitchFamily="34" charset="0"/>
                <a:ea typeface="+mn-lt"/>
                <a:cs typeface="Segoe UI Semibold" panose="020B0702040204020203" pitchFamily="34" charset="0"/>
              </a:rPr>
              <a:t>/</a:t>
            </a:r>
            <a:r>
              <a:rPr lang="de-DE" b="1" err="1">
                <a:solidFill>
                  <a:schemeClr val="bg1"/>
                </a:solidFill>
                <a:latin typeface="Segoe UI Semibold" panose="020B0702040204020203" pitchFamily="34" charset="0"/>
                <a:ea typeface="+mn-lt"/>
                <a:cs typeface="Segoe UI Semibold" panose="020B0702040204020203" pitchFamily="34" charset="0"/>
              </a:rPr>
              <a:t>bills</a:t>
            </a:r>
            <a:r>
              <a:rPr lang="de-DE" b="1">
                <a:solidFill>
                  <a:schemeClr val="bg1"/>
                </a:solidFill>
                <a:latin typeface="Segoe UI Semibold" panose="020B0702040204020203" pitchFamily="34" charset="0"/>
                <a:ea typeface="+mn-lt"/>
                <a:cs typeface="Segoe UI Semibold" panose="020B0702040204020203" pitchFamily="34" charset="0"/>
              </a:rPr>
              <a:t>/</a:t>
            </a:r>
            <a:r>
              <a:rPr lang="de-DE" b="1" err="1">
                <a:solidFill>
                  <a:schemeClr val="bg1"/>
                </a:solidFill>
                <a:latin typeface="Segoe UI Semibold" panose="020B0702040204020203" pitchFamily="34" charset="0"/>
                <a:ea typeface="+mn-lt"/>
                <a:cs typeface="Segoe UI Semibold" panose="020B0702040204020203" pitchFamily="34" charset="0"/>
              </a:rPr>
              <a:t>redeem</a:t>
            </a:r>
            <a:r>
              <a:rPr lang="de-DE" b="1">
                <a:solidFill>
                  <a:schemeClr val="bg1"/>
                </a:solidFill>
                <a:latin typeface="Segoe UI Semibold" panose="020B0702040204020203" pitchFamily="34" charset="0"/>
                <a:ea typeface="+mn-lt"/>
                <a:cs typeface="Segoe UI Semibold" panose="020B0702040204020203" pitchFamily="34" charset="0"/>
              </a:rPr>
              <a:t>)</a:t>
            </a:r>
            <a:endParaRPr lang="de-DE" b="1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lvl="1"/>
            <a:r>
              <a:rPr lang="de-DE">
                <a:solidFill>
                  <a:schemeClr val="bg1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Nimmt REST-Request entgegen</a:t>
            </a:r>
            <a:endParaRPr lang="de-DE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/>
            <a:r>
              <a:rPr lang="de-DE">
                <a:solidFill>
                  <a:schemeClr val="bg1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Validiert Request-Daten</a:t>
            </a:r>
            <a:endParaRPr lang="de-DE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/>
            <a:r>
              <a:rPr lang="de-DE">
                <a:solidFill>
                  <a:schemeClr val="bg1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Leitet Request an Service weiter</a:t>
            </a:r>
            <a:endParaRPr lang="de-DE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de-DE" b="1">
                <a:solidFill>
                  <a:schemeClr val="bg1"/>
                </a:solidFill>
                <a:latin typeface="Segoe UI Semibold" panose="020B0702040204020203" pitchFamily="34" charset="0"/>
                <a:ea typeface="+mn-lt"/>
                <a:cs typeface="Segoe UI Semibold" panose="020B0702040204020203" pitchFamily="34" charset="0"/>
              </a:rPr>
              <a:t>2. Service-Schicht</a:t>
            </a:r>
            <a:endParaRPr lang="de-DE" b="1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lvl="1"/>
            <a:r>
              <a:rPr lang="de-DE">
                <a:solidFill>
                  <a:schemeClr val="bg1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Enthält die Geschäftslogik</a:t>
            </a:r>
            <a:endParaRPr lang="de-DE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/>
            <a:r>
              <a:rPr lang="de-DE">
                <a:solidFill>
                  <a:schemeClr val="bg1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Prüft:</a:t>
            </a:r>
            <a:endParaRPr lang="de-DE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de-DE">
                <a:solidFill>
                  <a:schemeClr val="bg1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Existenz der Rechnung</a:t>
            </a:r>
            <a:endParaRPr lang="de-DE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de-DE" err="1">
                <a:solidFill>
                  <a:schemeClr val="bg1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Einlösestatus</a:t>
            </a:r>
            <a:endParaRPr lang="de-DE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de-DE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Schreibt Punkte dem User gut</a:t>
            </a:r>
          </a:p>
          <a:p>
            <a:r>
              <a:rPr lang="de-DE" b="1">
                <a:solidFill>
                  <a:schemeClr val="bg1"/>
                </a:solidFill>
                <a:latin typeface="Segoe UI Semibold" panose="020B0702040204020203" pitchFamily="34" charset="0"/>
                <a:ea typeface="+mn-lt"/>
                <a:cs typeface="Segoe UI Semibold" panose="020B0702040204020203" pitchFamily="34" charset="0"/>
              </a:rPr>
              <a:t>3. Repository-Schicht</a:t>
            </a:r>
            <a:endParaRPr lang="de-DE" b="1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lvl="1"/>
            <a:r>
              <a:rPr lang="de-DE">
                <a:solidFill>
                  <a:schemeClr val="bg1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Führt Datenbankoperationen aus</a:t>
            </a:r>
          </a:p>
          <a:p>
            <a:pPr marL="457200" lvl="1" indent="0">
              <a:buNone/>
            </a:pPr>
            <a:endParaRPr lang="de-DE" b="1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lvl="2">
              <a:buFont typeface="Wingdings" panose="020B0604020202020204" pitchFamily="34" charset="0"/>
              <a:buChar char="§"/>
            </a:pPr>
            <a:endParaRPr lang="de-DE" b="1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endParaRPr lang="de-DE" b="1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BD65553C-BE27-D3AB-6F16-9EB4CA8C7E1A}"/>
              </a:ext>
            </a:extLst>
          </p:cNvPr>
          <p:cNvSpPr txBox="1">
            <a:spLocks/>
          </p:cNvSpPr>
          <p:nvPr/>
        </p:nvSpPr>
        <p:spPr>
          <a:xfrm>
            <a:off x="838200" y="-1633008"/>
            <a:ext cx="10515600" cy="11003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Datenfluss „Einlösen“ Überblick 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74F2C8AF-BD82-B307-D56F-2BFDBAB06D7D}"/>
              </a:ext>
            </a:extLst>
          </p:cNvPr>
          <p:cNvSpPr txBox="1">
            <a:spLocks/>
          </p:cNvSpPr>
          <p:nvPr/>
        </p:nvSpPr>
        <p:spPr>
          <a:xfrm>
            <a:off x="838200" y="7273652"/>
            <a:ext cx="10515600" cy="50273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Frontend</a:t>
            </a:r>
            <a:endParaRPr lang="de-DE">
              <a:solidFill>
                <a:schemeClr val="bg1"/>
              </a:solidFill>
            </a:endParaRPr>
          </a:p>
          <a:p>
            <a:pPr lvl="1"/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User wählt einen Reward aus</a:t>
            </a:r>
            <a:endParaRPr lang="de-DE">
              <a:solidFill>
                <a:schemeClr val="bg1"/>
              </a:solidFill>
            </a:endParaRPr>
          </a:p>
          <a:p>
            <a:pPr lvl="1"/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Klick auf </a:t>
            </a:r>
            <a:r>
              <a:rPr lang="de-DE" i="1">
                <a:solidFill>
                  <a:schemeClr val="bg1"/>
                </a:solidFill>
                <a:ea typeface="+mn-lt"/>
                <a:cs typeface="+mn-lt"/>
              </a:rPr>
              <a:t>„Reward einlösen“</a:t>
            </a:r>
            <a:endParaRPr lang="de-DE">
              <a:solidFill>
                <a:schemeClr val="bg1"/>
              </a:solidFill>
            </a:endParaRPr>
          </a:p>
          <a:p>
            <a:pPr lvl="1"/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Sendet HTTP </a:t>
            </a:r>
            <a:r>
              <a:rPr lang="de-DE">
                <a:solidFill>
                  <a:schemeClr val="bg1"/>
                </a:solidFill>
                <a:latin typeface="Consolas"/>
              </a:rPr>
              <a:t>POST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Request an Backend</a:t>
            </a:r>
            <a:endParaRPr lang="de-DE">
              <a:solidFill>
                <a:schemeClr val="bg1"/>
              </a:solidFill>
            </a:endParaRPr>
          </a:p>
          <a:p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Backend</a:t>
            </a:r>
            <a:endParaRPr lang="de-DE">
              <a:solidFill>
                <a:schemeClr val="bg1"/>
              </a:solidFill>
            </a:endParaRPr>
          </a:p>
          <a:p>
            <a:pPr lvl="1"/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Verarbeitung über:</a:t>
            </a:r>
            <a:endParaRPr lang="de-DE">
              <a:solidFill>
                <a:schemeClr val="bg1"/>
              </a:solidFill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Controller</a:t>
            </a:r>
            <a:endParaRPr lang="de-DE">
              <a:solidFill>
                <a:schemeClr val="bg1"/>
              </a:solidFill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Service</a:t>
            </a:r>
            <a:endParaRPr lang="de-DE">
              <a:solidFill>
                <a:schemeClr val="bg1"/>
              </a:solidFill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Repository</a:t>
            </a:r>
            <a:endParaRPr lang="de-DE">
              <a:solidFill>
                <a:schemeClr val="bg1"/>
              </a:solidFill>
            </a:endParaRPr>
          </a:p>
          <a:p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Datenbank</a:t>
            </a:r>
          </a:p>
          <a:p>
            <a:pPr lvl="1"/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Reward wird als </a:t>
            </a:r>
            <a:r>
              <a:rPr lang="de-DE" i="1">
                <a:solidFill>
                  <a:schemeClr val="bg1"/>
                </a:solidFill>
                <a:ea typeface="+mn-lt"/>
                <a:cs typeface="+mn-lt"/>
              </a:rPr>
              <a:t>eingelöst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gespeichert</a:t>
            </a:r>
            <a:endParaRPr lang="de-DE">
              <a:solidFill>
                <a:schemeClr val="bg1"/>
              </a:solidFill>
            </a:endParaRPr>
          </a:p>
          <a:p>
            <a:pPr lvl="1"/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User-Guthaben wird reduziert</a:t>
            </a:r>
            <a:endParaRPr lang="de-DE">
              <a:solidFill>
                <a:schemeClr val="bg1"/>
              </a:solidFill>
            </a:endParaRPr>
          </a:p>
          <a:p>
            <a:endParaRPr lang="de-DE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34359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3D4E43-D5AA-054E-91B6-3D8F9C212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6591"/>
            <a:ext cx="10515600" cy="1100397"/>
          </a:xfrm>
        </p:spPr>
        <p:txBody>
          <a:bodyPr/>
          <a:lstStyle/>
          <a:p>
            <a:r>
              <a:rPr lang="de-DE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Datenfluss „Einlösen“ Überblick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8321D87-9345-E4D8-CF73-D0C0F17FD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522"/>
            <a:ext cx="10515600" cy="502735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Frontend</a:t>
            </a:r>
            <a:endParaRPr lang="de-DE">
              <a:solidFill>
                <a:schemeClr val="bg1"/>
              </a:solidFill>
            </a:endParaRPr>
          </a:p>
          <a:p>
            <a:pPr lvl="1"/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User wählt einen Reward aus</a:t>
            </a:r>
            <a:endParaRPr lang="de-DE">
              <a:solidFill>
                <a:schemeClr val="bg1"/>
              </a:solidFill>
            </a:endParaRPr>
          </a:p>
          <a:p>
            <a:pPr lvl="1"/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Klick auf </a:t>
            </a:r>
            <a:r>
              <a:rPr lang="de-DE" i="1">
                <a:solidFill>
                  <a:schemeClr val="bg1"/>
                </a:solidFill>
                <a:ea typeface="+mn-lt"/>
                <a:cs typeface="+mn-lt"/>
              </a:rPr>
              <a:t>„Reward einlösen“</a:t>
            </a:r>
            <a:endParaRPr lang="de-DE">
              <a:solidFill>
                <a:schemeClr val="bg1"/>
              </a:solidFill>
            </a:endParaRPr>
          </a:p>
          <a:p>
            <a:pPr lvl="1"/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Sendet HTTP </a:t>
            </a:r>
            <a:r>
              <a:rPr lang="de-DE">
                <a:solidFill>
                  <a:schemeClr val="bg1"/>
                </a:solidFill>
                <a:latin typeface="Consolas"/>
              </a:rPr>
              <a:t>POST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Request an Backend</a:t>
            </a:r>
            <a:endParaRPr lang="de-DE">
              <a:solidFill>
                <a:schemeClr val="bg1"/>
              </a:solidFill>
            </a:endParaRPr>
          </a:p>
          <a:p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Backend</a:t>
            </a:r>
            <a:endParaRPr lang="de-DE">
              <a:solidFill>
                <a:schemeClr val="bg1"/>
              </a:solidFill>
            </a:endParaRPr>
          </a:p>
          <a:p>
            <a:pPr lvl="1"/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Verarbeitung über:</a:t>
            </a:r>
            <a:endParaRPr lang="de-DE">
              <a:solidFill>
                <a:schemeClr val="bg1"/>
              </a:solidFill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Controller</a:t>
            </a:r>
            <a:endParaRPr lang="de-DE">
              <a:solidFill>
                <a:schemeClr val="bg1"/>
              </a:solidFill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Service</a:t>
            </a:r>
            <a:endParaRPr lang="de-DE">
              <a:solidFill>
                <a:schemeClr val="bg1"/>
              </a:solidFill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Repository</a:t>
            </a:r>
            <a:endParaRPr lang="de-DE">
              <a:solidFill>
                <a:schemeClr val="bg1"/>
              </a:solidFill>
            </a:endParaRPr>
          </a:p>
          <a:p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Datenbank</a:t>
            </a:r>
          </a:p>
          <a:p>
            <a:pPr lvl="1"/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Reward wird als </a:t>
            </a:r>
            <a:r>
              <a:rPr lang="de-DE" i="1">
                <a:solidFill>
                  <a:schemeClr val="bg1"/>
                </a:solidFill>
                <a:ea typeface="+mn-lt"/>
                <a:cs typeface="+mn-lt"/>
              </a:rPr>
              <a:t>eingelöst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gespeichert</a:t>
            </a:r>
            <a:endParaRPr lang="de-DE">
              <a:solidFill>
                <a:schemeClr val="bg1"/>
              </a:solidFill>
            </a:endParaRPr>
          </a:p>
          <a:p>
            <a:pPr lvl="1"/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User-Guthaben wird reduziert</a:t>
            </a:r>
            <a:endParaRPr lang="de-DE">
              <a:solidFill>
                <a:schemeClr val="bg1"/>
              </a:solidFill>
            </a:endParaRPr>
          </a:p>
          <a:p>
            <a:endParaRPr lang="de-DE">
              <a:solidFill>
                <a:schemeClr val="bg1"/>
              </a:solidFill>
            </a:endParaRP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ECEE9D89-3AFC-0B98-511F-87E228E012FB}"/>
              </a:ext>
            </a:extLst>
          </p:cNvPr>
          <p:cNvSpPr txBox="1">
            <a:spLocks/>
          </p:cNvSpPr>
          <p:nvPr/>
        </p:nvSpPr>
        <p:spPr>
          <a:xfrm>
            <a:off x="838200" y="-141617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Datenfluss „Einlösen“ spezifisch</a:t>
            </a:r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48F95C79-5C5B-71BC-0DAD-0717CC36B8A7}"/>
              </a:ext>
            </a:extLst>
          </p:cNvPr>
          <p:cNvSpPr txBox="1">
            <a:spLocks/>
          </p:cNvSpPr>
          <p:nvPr/>
        </p:nvSpPr>
        <p:spPr>
          <a:xfrm>
            <a:off x="838200" y="7241508"/>
            <a:ext cx="10515600" cy="5008692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b="1">
                <a:solidFill>
                  <a:schemeClr val="bg1"/>
                </a:solidFill>
                <a:latin typeface="Segoe UI Semibold" panose="020B0702040204020203" pitchFamily="34" charset="0"/>
                <a:ea typeface="+mn-lt"/>
                <a:cs typeface="Segoe UI Semibold" panose="020B0702040204020203" pitchFamily="34" charset="0"/>
              </a:rPr>
              <a:t>Controller-Schicht (/</a:t>
            </a:r>
            <a:r>
              <a:rPr lang="de-DE" b="1" err="1">
                <a:solidFill>
                  <a:schemeClr val="bg1"/>
                </a:solidFill>
                <a:latin typeface="Segoe UI Semibold" panose="020B0702040204020203" pitchFamily="34" charset="0"/>
                <a:ea typeface="+mn-lt"/>
                <a:cs typeface="Segoe UI Semibold" panose="020B0702040204020203" pitchFamily="34" charset="0"/>
              </a:rPr>
              <a:t>api</a:t>
            </a:r>
            <a:r>
              <a:rPr lang="de-DE" b="1">
                <a:solidFill>
                  <a:schemeClr val="bg1"/>
                </a:solidFill>
                <a:latin typeface="Segoe UI Semibold" panose="020B0702040204020203" pitchFamily="34" charset="0"/>
                <a:ea typeface="+mn-lt"/>
                <a:cs typeface="Segoe UI Semibold" panose="020B0702040204020203" pitchFamily="34" charset="0"/>
              </a:rPr>
              <a:t>/</a:t>
            </a:r>
            <a:r>
              <a:rPr lang="de-DE" b="1" err="1">
                <a:solidFill>
                  <a:schemeClr val="bg1"/>
                </a:solidFill>
                <a:latin typeface="Segoe UI Semibold" panose="020B0702040204020203" pitchFamily="34" charset="0"/>
                <a:ea typeface="+mn-lt"/>
                <a:cs typeface="Segoe UI Semibold" panose="020B0702040204020203" pitchFamily="34" charset="0"/>
              </a:rPr>
              <a:t>redemptions</a:t>
            </a:r>
            <a:r>
              <a:rPr lang="de-DE" b="1">
                <a:solidFill>
                  <a:schemeClr val="bg1"/>
                </a:solidFill>
                <a:latin typeface="Segoe UI Semibold" panose="020B0702040204020203" pitchFamily="34" charset="0"/>
                <a:ea typeface="+mn-lt"/>
                <a:cs typeface="Segoe UI Semibold" panose="020B0702040204020203" pitchFamily="34" charset="0"/>
              </a:rPr>
              <a:t>/</a:t>
            </a:r>
            <a:r>
              <a:rPr lang="de-DE" b="1" err="1">
                <a:solidFill>
                  <a:schemeClr val="bg1"/>
                </a:solidFill>
                <a:latin typeface="Segoe UI Semibold" panose="020B0702040204020203" pitchFamily="34" charset="0"/>
                <a:ea typeface="+mn-lt"/>
                <a:cs typeface="Segoe UI Semibold" panose="020B0702040204020203" pitchFamily="34" charset="0"/>
              </a:rPr>
              <a:t>redeem</a:t>
            </a:r>
            <a:r>
              <a:rPr lang="de-DE" b="1">
                <a:solidFill>
                  <a:schemeClr val="bg1"/>
                </a:solidFill>
                <a:latin typeface="Segoe UI Semibold" panose="020B0702040204020203" pitchFamily="34" charset="0"/>
                <a:ea typeface="+mn-lt"/>
                <a:cs typeface="Segoe UI Semibold" panose="020B0702040204020203" pitchFamily="34" charset="0"/>
              </a:rPr>
              <a:t>)</a:t>
            </a:r>
          </a:p>
          <a:p>
            <a:pPr lvl="1"/>
            <a:r>
              <a:rPr lang="de-DE">
                <a:solidFill>
                  <a:schemeClr val="bg1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Nimmt REST-Request entgegen</a:t>
            </a:r>
            <a:endParaRPr lang="de-DE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/>
            <a:r>
              <a:rPr lang="de-DE">
                <a:solidFill>
                  <a:schemeClr val="bg1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Prüft Request-Daten</a:t>
            </a:r>
            <a:endParaRPr lang="de-DE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/>
            <a:r>
              <a:rPr lang="de-DE">
                <a:solidFill>
                  <a:schemeClr val="bg1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Leitet Request an Service weiter</a:t>
            </a:r>
            <a:endParaRPr lang="de-DE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de-DE" b="1">
                <a:solidFill>
                  <a:schemeClr val="bg1"/>
                </a:solidFill>
                <a:latin typeface="Segoe UI Semibold" panose="020B0702040204020203" pitchFamily="34" charset="0"/>
                <a:ea typeface="+mn-lt"/>
                <a:cs typeface="Segoe UI Semibold" panose="020B0702040204020203" pitchFamily="34" charset="0"/>
              </a:rPr>
              <a:t>Service-Schicht</a:t>
            </a:r>
            <a:endParaRPr lang="de-DE" b="1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lvl="1"/>
            <a:r>
              <a:rPr lang="de-DE">
                <a:solidFill>
                  <a:schemeClr val="bg1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Führt die Geschäftslogik aus</a:t>
            </a:r>
          </a:p>
          <a:p>
            <a:pPr lvl="1"/>
            <a:r>
              <a:rPr lang="de-DE">
                <a:solidFill>
                  <a:schemeClr val="bg1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Prüft:</a:t>
            </a:r>
          </a:p>
          <a:p>
            <a:pPr lvl="2"/>
            <a:r>
              <a:rPr lang="de-DE">
                <a:solidFill>
                  <a:schemeClr val="bg1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Ist der Reward verfügbar?</a:t>
            </a:r>
          </a:p>
          <a:p>
            <a:pPr lvl="2"/>
            <a:r>
              <a:rPr lang="de-DE">
                <a:solidFill>
                  <a:schemeClr val="bg1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Hat der User genügend Punkte?</a:t>
            </a:r>
          </a:p>
          <a:p>
            <a:pPr lvl="2"/>
            <a:r>
              <a:rPr lang="de-DE">
                <a:solidFill>
                  <a:schemeClr val="bg1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Wurde der Reward noch nicht eingelöst?</a:t>
            </a:r>
          </a:p>
          <a:p>
            <a:r>
              <a:rPr lang="de-DE" b="1">
                <a:solidFill>
                  <a:schemeClr val="bg1"/>
                </a:solidFill>
                <a:latin typeface="Segoe UI Semibold" panose="020B0702040204020203" pitchFamily="34" charset="0"/>
                <a:ea typeface="+mn-lt"/>
                <a:cs typeface="Segoe UI Semibold" panose="020B0702040204020203" pitchFamily="34" charset="0"/>
              </a:rPr>
              <a:t>Repository-Schicht</a:t>
            </a:r>
            <a:endParaRPr lang="de-DE" b="1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lvl="1"/>
            <a:r>
              <a:rPr lang="de-DE">
                <a:solidFill>
                  <a:schemeClr val="bg1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Aktualisiert Reward- und User-Daten</a:t>
            </a:r>
          </a:p>
          <a:p>
            <a:pPr lvl="1"/>
            <a:r>
              <a:rPr lang="de-DE">
                <a:solidFill>
                  <a:schemeClr val="bg1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Speichert Einlöste Rewards</a:t>
            </a:r>
          </a:p>
          <a:p>
            <a:endParaRPr lang="de-DE" b="1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27309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88714A-4CA8-1275-E6ED-AF306FD7A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8620"/>
            <a:ext cx="10515600" cy="1325563"/>
          </a:xfrm>
        </p:spPr>
        <p:txBody>
          <a:bodyPr/>
          <a:lstStyle/>
          <a:p>
            <a:r>
              <a:rPr lang="de-DE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Datenfluss „Einlösen“ spezifisch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A93F6E8-55C7-CA34-9DCF-B50FEA2533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4183"/>
            <a:ext cx="10515600" cy="5008692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de-DE" b="1">
                <a:solidFill>
                  <a:schemeClr val="bg1"/>
                </a:solidFill>
                <a:latin typeface="Segoe UI Semibold" panose="020B0702040204020203" pitchFamily="34" charset="0"/>
                <a:ea typeface="+mn-lt"/>
                <a:cs typeface="Segoe UI Semibold" panose="020B0702040204020203" pitchFamily="34" charset="0"/>
              </a:rPr>
              <a:t>Controller-Schicht (/</a:t>
            </a:r>
            <a:r>
              <a:rPr lang="de-DE" b="1" err="1">
                <a:solidFill>
                  <a:schemeClr val="bg1"/>
                </a:solidFill>
                <a:latin typeface="Segoe UI Semibold" panose="020B0702040204020203" pitchFamily="34" charset="0"/>
                <a:ea typeface="+mn-lt"/>
                <a:cs typeface="Segoe UI Semibold" panose="020B0702040204020203" pitchFamily="34" charset="0"/>
              </a:rPr>
              <a:t>api</a:t>
            </a:r>
            <a:r>
              <a:rPr lang="de-DE" b="1">
                <a:solidFill>
                  <a:schemeClr val="bg1"/>
                </a:solidFill>
                <a:latin typeface="Segoe UI Semibold" panose="020B0702040204020203" pitchFamily="34" charset="0"/>
                <a:ea typeface="+mn-lt"/>
                <a:cs typeface="Segoe UI Semibold" panose="020B0702040204020203" pitchFamily="34" charset="0"/>
              </a:rPr>
              <a:t>/</a:t>
            </a:r>
            <a:r>
              <a:rPr lang="de-DE" b="1" err="1">
                <a:solidFill>
                  <a:schemeClr val="bg1"/>
                </a:solidFill>
                <a:latin typeface="Segoe UI Semibold" panose="020B0702040204020203" pitchFamily="34" charset="0"/>
                <a:ea typeface="+mn-lt"/>
                <a:cs typeface="Segoe UI Semibold" panose="020B0702040204020203" pitchFamily="34" charset="0"/>
              </a:rPr>
              <a:t>redemptions</a:t>
            </a:r>
            <a:r>
              <a:rPr lang="de-DE" b="1">
                <a:solidFill>
                  <a:schemeClr val="bg1"/>
                </a:solidFill>
                <a:latin typeface="Segoe UI Semibold" panose="020B0702040204020203" pitchFamily="34" charset="0"/>
                <a:ea typeface="+mn-lt"/>
                <a:cs typeface="Segoe UI Semibold" panose="020B0702040204020203" pitchFamily="34" charset="0"/>
              </a:rPr>
              <a:t>/</a:t>
            </a:r>
            <a:r>
              <a:rPr lang="de-DE" b="1" err="1">
                <a:solidFill>
                  <a:schemeClr val="bg1"/>
                </a:solidFill>
                <a:latin typeface="Segoe UI Semibold" panose="020B0702040204020203" pitchFamily="34" charset="0"/>
                <a:ea typeface="+mn-lt"/>
                <a:cs typeface="Segoe UI Semibold" panose="020B0702040204020203" pitchFamily="34" charset="0"/>
              </a:rPr>
              <a:t>redeem</a:t>
            </a:r>
            <a:r>
              <a:rPr lang="de-DE" b="1">
                <a:solidFill>
                  <a:schemeClr val="bg1"/>
                </a:solidFill>
                <a:latin typeface="Segoe UI Semibold" panose="020B0702040204020203" pitchFamily="34" charset="0"/>
                <a:ea typeface="+mn-lt"/>
                <a:cs typeface="Segoe UI Semibold" panose="020B0702040204020203" pitchFamily="34" charset="0"/>
              </a:rPr>
              <a:t>)</a:t>
            </a:r>
          </a:p>
          <a:p>
            <a:pPr lvl="1"/>
            <a:r>
              <a:rPr lang="de-DE">
                <a:solidFill>
                  <a:schemeClr val="bg1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Nimmt REST-Request entgegen</a:t>
            </a:r>
            <a:endParaRPr lang="de-DE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/>
            <a:r>
              <a:rPr lang="de-DE">
                <a:solidFill>
                  <a:schemeClr val="bg1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Prüft Request-Daten</a:t>
            </a:r>
            <a:endParaRPr lang="de-DE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/>
            <a:r>
              <a:rPr lang="de-DE">
                <a:solidFill>
                  <a:schemeClr val="bg1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Leitet Request an Service weiter</a:t>
            </a:r>
            <a:endParaRPr lang="de-DE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de-DE" b="1">
                <a:solidFill>
                  <a:schemeClr val="bg1"/>
                </a:solidFill>
                <a:latin typeface="Segoe UI Semibold" panose="020B0702040204020203" pitchFamily="34" charset="0"/>
                <a:ea typeface="+mn-lt"/>
                <a:cs typeface="Segoe UI Semibold" panose="020B0702040204020203" pitchFamily="34" charset="0"/>
              </a:rPr>
              <a:t>Service-Schicht</a:t>
            </a:r>
            <a:endParaRPr lang="de-DE" b="1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lvl="1"/>
            <a:r>
              <a:rPr lang="de-DE">
                <a:solidFill>
                  <a:schemeClr val="bg1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Führt die Geschäftslogik aus</a:t>
            </a:r>
          </a:p>
          <a:p>
            <a:pPr lvl="1"/>
            <a:r>
              <a:rPr lang="de-DE">
                <a:solidFill>
                  <a:schemeClr val="bg1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Prüft:</a:t>
            </a:r>
          </a:p>
          <a:p>
            <a:pPr lvl="2"/>
            <a:r>
              <a:rPr lang="de-DE">
                <a:solidFill>
                  <a:schemeClr val="bg1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Ist der Reward verfügbar?</a:t>
            </a:r>
          </a:p>
          <a:p>
            <a:pPr lvl="2"/>
            <a:r>
              <a:rPr lang="de-DE">
                <a:solidFill>
                  <a:schemeClr val="bg1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Hat der User genügend Punkte?</a:t>
            </a:r>
          </a:p>
          <a:p>
            <a:pPr lvl="2"/>
            <a:r>
              <a:rPr lang="de-DE">
                <a:solidFill>
                  <a:schemeClr val="bg1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Wurde der Reward noch nicht eingelöst?</a:t>
            </a:r>
          </a:p>
          <a:p>
            <a:r>
              <a:rPr lang="de-DE" b="1">
                <a:solidFill>
                  <a:schemeClr val="bg1"/>
                </a:solidFill>
                <a:latin typeface="Segoe UI Semibold" panose="020B0702040204020203" pitchFamily="34" charset="0"/>
                <a:ea typeface="+mn-lt"/>
                <a:cs typeface="Segoe UI Semibold" panose="020B0702040204020203" pitchFamily="34" charset="0"/>
              </a:rPr>
              <a:t>Repository-Schicht</a:t>
            </a:r>
            <a:endParaRPr lang="de-DE" b="1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lvl="1"/>
            <a:r>
              <a:rPr lang="de-DE">
                <a:solidFill>
                  <a:schemeClr val="bg1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Aktualisiert Reward- und User-Daten</a:t>
            </a:r>
          </a:p>
          <a:p>
            <a:pPr lvl="1"/>
            <a:r>
              <a:rPr lang="de-DE">
                <a:solidFill>
                  <a:schemeClr val="bg1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Speichert Einlöste Rewards</a:t>
            </a:r>
          </a:p>
          <a:p>
            <a:endParaRPr lang="de-DE" b="1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F5858A74-D313-8EF9-3AC9-C6FD9A404617}"/>
              </a:ext>
            </a:extLst>
          </p:cNvPr>
          <p:cNvSpPr txBox="1">
            <a:spLocks/>
          </p:cNvSpPr>
          <p:nvPr/>
        </p:nvSpPr>
        <p:spPr>
          <a:xfrm>
            <a:off x="3536230" y="7447946"/>
            <a:ext cx="511953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AT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Vielen Dank für ihre Aufmerksamkeit</a:t>
            </a:r>
            <a:endParaRPr lang="en-GB" b="1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0785982F-FD5C-80BA-A303-97B4EBD3A1A4}"/>
              </a:ext>
            </a:extLst>
          </p:cNvPr>
          <p:cNvGrpSpPr/>
          <p:nvPr/>
        </p:nvGrpSpPr>
        <p:grpSpPr>
          <a:xfrm>
            <a:off x="2208275" y="-4339764"/>
            <a:ext cx="7772400" cy="3506396"/>
            <a:chOff x="2208275" y="1073484"/>
            <a:chExt cx="7772400" cy="3506396"/>
          </a:xfrm>
        </p:grpSpPr>
        <p:pic>
          <p:nvPicPr>
            <p:cNvPr id="6" name="Grafik 5" descr="Ein Bild, das Grafiken, Clipart, Cartoon, Logo enthält.&#10;&#10;KI-generierte Inhalte können fehlerhaft sein.">
              <a:extLst>
                <a:ext uri="{FF2B5EF4-FFF2-40B4-BE49-F238E27FC236}">
                  <a16:creationId xmlns:a16="http://schemas.microsoft.com/office/drawing/2014/main" id="{AE7F0C37-4EF3-AFF6-199B-72EF93B00D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5726"/>
            <a:stretch>
              <a:fillRect/>
            </a:stretch>
          </p:blipFill>
          <p:spPr>
            <a:xfrm>
              <a:off x="2208275" y="1073484"/>
              <a:ext cx="7772400" cy="2688356"/>
            </a:xfrm>
            <a:prstGeom prst="rect">
              <a:avLst/>
            </a:prstGeom>
          </p:spPr>
        </p:pic>
        <p:sp>
          <p:nvSpPr>
            <p:cNvPr id="7" name="Textfeld 6">
              <a:extLst>
                <a:ext uri="{FF2B5EF4-FFF2-40B4-BE49-F238E27FC236}">
                  <a16:creationId xmlns:a16="http://schemas.microsoft.com/office/drawing/2014/main" id="{08E6E888-D481-8A7D-8414-20AC4A4B3349}"/>
                </a:ext>
              </a:extLst>
            </p:cNvPr>
            <p:cNvSpPr txBox="1"/>
            <p:nvPr/>
          </p:nvSpPr>
          <p:spPr>
            <a:xfrm>
              <a:off x="4456432" y="3810439"/>
              <a:ext cx="332026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4400" b="1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Gastro Chef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144848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F48A3-FC5E-9F17-EE85-8057CCED4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76B3B0-7934-DEA1-78BC-2CDBC7F97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6230" y="4777898"/>
            <a:ext cx="5119539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de-AT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Vielen Dank für ihre Aufmerksamkeit</a:t>
            </a:r>
            <a:endParaRPr lang="en-GB" b="1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FDCC4ADC-F3E5-8B49-F38C-C28CEC00020B}"/>
              </a:ext>
            </a:extLst>
          </p:cNvPr>
          <p:cNvGrpSpPr/>
          <p:nvPr/>
        </p:nvGrpSpPr>
        <p:grpSpPr>
          <a:xfrm>
            <a:off x="2208275" y="835740"/>
            <a:ext cx="7772400" cy="3506396"/>
            <a:chOff x="2208275" y="1073484"/>
            <a:chExt cx="7772400" cy="3506396"/>
          </a:xfrm>
        </p:grpSpPr>
        <p:pic>
          <p:nvPicPr>
            <p:cNvPr id="10" name="Grafik 9" descr="Ein Bild, das Grafiken, Clipart, Cartoon, Logo enthält.&#10;&#10;KI-generierte Inhalte können fehlerhaft sein.">
              <a:extLst>
                <a:ext uri="{FF2B5EF4-FFF2-40B4-BE49-F238E27FC236}">
                  <a16:creationId xmlns:a16="http://schemas.microsoft.com/office/drawing/2014/main" id="{D07FC62E-CFF2-1536-9AF7-07A593177C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5726"/>
            <a:stretch>
              <a:fillRect/>
            </a:stretch>
          </p:blipFill>
          <p:spPr>
            <a:xfrm>
              <a:off x="2208275" y="1073484"/>
              <a:ext cx="7772400" cy="2688356"/>
            </a:xfrm>
            <a:prstGeom prst="rect">
              <a:avLst/>
            </a:prstGeom>
          </p:spPr>
        </p:pic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685000D7-FC6D-DEF7-B1B1-D6DE0906E90E}"/>
                </a:ext>
              </a:extLst>
            </p:cNvPr>
            <p:cNvSpPr txBox="1"/>
            <p:nvPr/>
          </p:nvSpPr>
          <p:spPr>
            <a:xfrm>
              <a:off x="4456432" y="3810439"/>
              <a:ext cx="332026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4400" b="1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Gastro Chef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092741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DD67F0C6F8C1E049A46AADAC9D534AE4" ma:contentTypeVersion="17" ma:contentTypeDescription="Ein neues Dokument erstellen." ma:contentTypeScope="" ma:versionID="4e3f34d804ef176b9557db9f0c622435">
  <xsd:schema xmlns:xsd="http://www.w3.org/2001/XMLSchema" xmlns:xs="http://www.w3.org/2001/XMLSchema" xmlns:p="http://schemas.microsoft.com/office/2006/metadata/properties" xmlns:ns3="b5256019-ce02-486a-9d32-327b4d141123" xmlns:ns4="87e560c3-d5b1-4548-a705-25afac03804e" targetNamespace="http://schemas.microsoft.com/office/2006/metadata/properties" ma:root="true" ma:fieldsID="73a72bad81278c690bdd03d85d2d813b" ns3:_="" ns4:_="">
    <xsd:import namespace="b5256019-ce02-486a-9d32-327b4d141123"/>
    <xsd:import namespace="87e560c3-d5b1-4548-a705-25afac03804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256019-ce02-486a-9d32-327b4d1411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e560c3-d5b1-4548-a705-25afac03804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Freigabehinweis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5256019-ce02-486a-9d32-327b4d14112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FE4D79A-D528-4EC7-B229-E8A212794A84}">
  <ds:schemaRefs>
    <ds:schemaRef ds:uri="87e560c3-d5b1-4548-a705-25afac03804e"/>
    <ds:schemaRef ds:uri="b5256019-ce02-486a-9d32-327b4d14112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930B3C6-3190-4EF0-B6F4-977B7589F044}">
  <ds:schemaRefs>
    <ds:schemaRef ds:uri="http://purl.org/dc/terms/"/>
    <ds:schemaRef ds:uri="http://www.w3.org/XML/1998/namespace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purl.org/dc/dcmitype/"/>
    <ds:schemaRef ds:uri="87e560c3-d5b1-4548-a705-25afac03804e"/>
    <ds:schemaRef ds:uri="b5256019-ce02-486a-9d32-327b4d141123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468A978F-E725-4958-A958-D69C7B8C84F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561</Words>
  <Application>Microsoft Office PowerPoint</Application>
  <PresentationFormat>Breitbild</PresentationFormat>
  <Paragraphs>163</Paragraphs>
  <Slides>12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20" baseType="lpstr">
      <vt:lpstr>Aptos</vt:lpstr>
      <vt:lpstr>Aptos Display</vt:lpstr>
      <vt:lpstr>Arial</vt:lpstr>
      <vt:lpstr>Consolas</vt:lpstr>
      <vt:lpstr>Segoe UI</vt:lpstr>
      <vt:lpstr>Segoe UI Semibold</vt:lpstr>
      <vt:lpstr>Wingdings</vt:lpstr>
      <vt:lpstr>Office</vt:lpstr>
      <vt:lpstr>PowerPoint-Präsentation</vt:lpstr>
      <vt:lpstr>Inhalt</vt:lpstr>
      <vt:lpstr>Rechnungscodes erstellen</vt:lpstr>
      <vt:lpstr>Rechnungscodes erstellen</vt:lpstr>
      <vt:lpstr>Demo</vt:lpstr>
      <vt:lpstr>Datenbank</vt:lpstr>
      <vt:lpstr>Projektstruktur</vt:lpstr>
      <vt:lpstr>Datenfluss „Rechnung“ Überblick</vt:lpstr>
      <vt:lpstr>Datenfluss Rechnung (detail)</vt:lpstr>
      <vt:lpstr>Datenfluss „Einlösen“ Überblick </vt:lpstr>
      <vt:lpstr>Datenfluss „Einlösen“ spezifisch</vt:lpstr>
      <vt:lpstr>Vielen Dank für ihre Aufmerksamkeit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Eichelberger Tobias</dc:creator>
  <cp:lastModifiedBy>Eichelberger Tobias</cp:lastModifiedBy>
  <cp:revision>1</cp:revision>
  <dcterms:created xsi:type="dcterms:W3CDTF">2026-01-22T09:20:57Z</dcterms:created>
  <dcterms:modified xsi:type="dcterms:W3CDTF">2026-02-05T07:36:05Z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0x010100DD67F0C6F8C1E049A46AADAC9D534AE4</vt:lpwstr>
  </property>
</Properties>
</file>